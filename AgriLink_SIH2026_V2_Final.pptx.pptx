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Times New Roman Bold" charset="1" panose="02020803070505020304"/>
      <p:regular r:id="rId14"/>
    </p:embeddedFont>
    <p:embeddedFont>
      <p:font typeface="Arimo Bold" charset="1" panose="020B0704020202020204"/>
      <p:regular r:id="rId18"/>
    </p:embeddedFont>
    <p:embeddedFont>
      <p:font typeface="Calibri (MS) Bold" charset="1" panose="020F0702030404030204"/>
      <p:regular r:id="rId19"/>
    </p:embeddedFont>
    <p:embeddedFont>
      <p:font typeface="Times New Roman" charset="1" panose="02020603050405020304"/>
      <p:regular r:id="rId20"/>
    </p:embeddedFont>
    <p:embeddedFont>
      <p:font typeface="Times New Roman Italics" charset="1" panose="0202050305040509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https://www.scribd.com/document/842217117/Kissankonnect-Case-study" TargetMode="External" Type="http://schemas.openxmlformats.org/officeDocument/2006/relationships/hyperlink"/><Relationship Id="rId5" Target="https://www.trustpilot.com/review/www.kisankonnect.in" TargetMode="External" Type="http://schemas.openxmlformats.org/officeDocument/2006/relationships/hyperlink"/><Relationship Id="rId6" Target="https://www.sparxitsolutions.com/case-study-kisankonnect.shtml" TargetMode="External" Type="http://schemas.openxmlformats.org/officeDocument/2006/relationships/hyperlink"/><Relationship Id="rId7" Target="https://techreviewer.co/companies/sparx-it-solutions/kisankonnect" TargetMode="External" Type="http://schemas.openxmlformats.org/officeDocument/2006/relationships/hyperlink"/><Relationship Id="rId8" Target="https://agriculture.institute/agripreneurship/understanding-apmc-system/" TargetMode="External" Type="http://schemas.openxmlformats.org/officeDocument/2006/relationships/hyperlink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6929" y="2595237"/>
            <a:ext cx="9296830" cy="533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SIH26033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Multiple intermediaries reduce farmers’ earnings &amp; increase consumer prices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 Agriculture, FoodTech &amp; Rural Development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Software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Name- AgriLink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3203" y="-305416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886471" y="2118017"/>
            <a:ext cx="14628461" cy="6098240"/>
          </a:xfrm>
          <a:custGeom>
            <a:avLst/>
            <a:gdLst/>
            <a:ahLst/>
            <a:cxnLst/>
            <a:rect r="r" b="b" t="t" l="l"/>
            <a:pathLst>
              <a:path h="6098240" w="14628461">
                <a:moveTo>
                  <a:pt x="0" y="0"/>
                </a:moveTo>
                <a:lnTo>
                  <a:pt x="14628460" y="0"/>
                </a:lnTo>
                <a:lnTo>
                  <a:pt x="14628460" y="6098240"/>
                </a:lnTo>
                <a:lnTo>
                  <a:pt x="0" y="6098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8711557"/>
            <a:ext cx="1659905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Generated with the help of AI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3203" y="-305416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494550" y="1812571"/>
            <a:ext cx="11175578" cy="7445729"/>
          </a:xfrm>
          <a:custGeom>
            <a:avLst/>
            <a:gdLst/>
            <a:ahLst/>
            <a:cxnLst/>
            <a:rect r="r" b="b" t="t" l="l"/>
            <a:pathLst>
              <a:path h="7445729" w="11175578">
                <a:moveTo>
                  <a:pt x="0" y="0"/>
                </a:moveTo>
                <a:lnTo>
                  <a:pt x="11175579" y="0"/>
                </a:lnTo>
                <a:lnTo>
                  <a:pt x="11175579" y="7445729"/>
                </a:lnTo>
                <a:lnTo>
                  <a:pt x="0" y="7445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5612" y="9020175"/>
            <a:ext cx="1659905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Generated with the help of 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165561" y="1832684"/>
            <a:ext cx="13369738" cy="6917162"/>
          </a:xfrm>
          <a:custGeom>
            <a:avLst/>
            <a:gdLst/>
            <a:ahLst/>
            <a:cxnLst/>
            <a:rect r="r" b="b" t="t" l="l"/>
            <a:pathLst>
              <a:path h="6917162" w="13369738">
                <a:moveTo>
                  <a:pt x="0" y="0"/>
                </a:moveTo>
                <a:lnTo>
                  <a:pt x="13369738" y="0"/>
                </a:lnTo>
                <a:lnTo>
                  <a:pt x="13369738" y="6917162"/>
                </a:lnTo>
                <a:lnTo>
                  <a:pt x="0" y="691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35" t="-12002" r="-2202" b="-177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63222" y="545721"/>
            <a:ext cx="813518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612" y="8968921"/>
            <a:ext cx="1659905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Generated with the help of AI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475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4475" y="2714823"/>
            <a:ext cx="16599051" cy="482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&amp; Low-Cost Tech: Runs on basic smartphones via Flutter, FastAPI, and low-cost Layer-2 blockchain.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Existing Infrastructure: Leverages established rural FPOs and PACS hubs within a 15–30 km radius.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Asset-Light &amp; Profitable: Generates consistent revenue through an 8% platform fee with zero inventory holding risk.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Win-Win Economics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Tamper-Proof &amp; Low Waste: Blockchain prevents price manipulation; smart routing cuts transit food spoilage from 28% to &lt;4%.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4975" y="2618802"/>
            <a:ext cx="16598049" cy="536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earn more, reliably — 14–19% higher than mandi net, paid faster, less dependence on commission agents.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pricing for buyers — bulk produce near mandi price, with delivery cost shown separately.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rural employment — local aggregator and delivery roles, especially for rural women and youth.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Cuts middlemen and waste — fewer intermediary layers, shorter transit, less spoilage.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financial inclusion — fair market access for small farmers, room to grow into inputs and credit.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&amp;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1684" y="2391083"/>
            <a:ext cx="16272119" cy="54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Agmarknet (Directorate of Marketing &amp; Inspection, Govt. of India) — daily APMC mandi arrival &amp; price data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NITI Aayog, Report of the Committee on Doubling Farmers’ Income (2022) — intermediary margin analysis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Agriculture Market (e-NAM) inter-mandi trading framework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Glaros, A. et al. (2023), “Digital technologies in local agri-food systems,” Frontiers in Sustainable Food Systems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Sedek, K. A. et al. (2021), “Smart Agro E-Marketplace Architectural Model,” Journal of Physics: Conference Series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Gumbi, Gumbi &amp; Twinomurinzi (2023), “Towards Sustainable Digital Agriculture for Smallholder Farmers,” Sustainability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Kissankonnect Case Study (Scribd)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www.scribd.com/document/842217117/Kissankonnect-Case-study"/>
              </a:rPr>
              <a:t> brand/support challenges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Trustpilot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www.trustpilot.com/review/www.kisankonnect.in"/>
              </a:rPr>
              <a:t> Kisankonnect Reviews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SparxIT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www.sparxitsolutions.com/case-study-kisankonnect.shtml"/>
              </a:rPr>
              <a:t> KisanKonnect App Redesign Case Study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Techreviewer.co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techreviewer.co/companies/sparx-it-solutions/kisankonnect"/>
              </a:rPr>
              <a:t> KisanKonnect / SparxIT Case Study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 Institute — </a:t>
            </a:r>
            <a:r>
              <a:rPr lang="en-US" sz="26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Understanding the Agricultural Produce Market Committee (APMC) System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agriculture.institute/agripreneurship/understanding-apmc-system/"/>
              </a:rPr>
              <a:t>https://agriculture.institute/agripreneurship/understanding-apmc-system/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1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DAHU7-z4Oco</dc:identifier>
  <dcterms:modified xsi:type="dcterms:W3CDTF">2011-08-01T06:04:30Z</dcterms:modified>
  <cp:revision>1</cp:revision>
  <dc:title>AgriLink_SIH2026_Formatted.pptx</dc:title>
</cp:coreProperties>
</file>