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ramond Bold" charset="1" panose="02020804030307010803"/>
      <p:regular r:id="rId12"/>
    </p:embeddedFont>
    <p:embeddedFont>
      <p:font typeface="Times New Roman Bold" charset="1" panose="02020803070505020304"/>
      <p:regular r:id="rId13"/>
    </p:embeddedFont>
    <p:embeddedFont>
      <p:font typeface="Arimo Bold" charset="1" panose="020B0704020202020204"/>
      <p:regular r:id="rId17"/>
    </p:embeddedFont>
    <p:embeddedFont>
      <p:font typeface="Calibri (MS) Bold" charset="1" panose="020F0702030404030204"/>
      <p:regular r:id="rId18"/>
    </p:embeddedFont>
    <p:embeddedFont>
      <p:font typeface="Times New Roman" charset="1" panose="02020603050405020304"/>
      <p:regular r:id="rId21"/>
    </p:embeddedFont>
    <p:embeddedFont>
      <p:font typeface="Times New Roman Italics" charset="1" panose="020205030504050903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3.xml" Type="http://schemas.openxmlformats.org/officeDocument/2006/relationships/notesSlide"/><Relationship Id="rId21" Target="fonts/font21.fntdata" Type="http://schemas.openxmlformats.org/officeDocument/2006/relationships/font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jpeg" Type="http://schemas.openxmlformats.org/officeDocument/2006/relationships/image"/><Relationship Id="rId4" Target="https://www.scribd.com/document/842217117/Kissankonnect-Case-study" TargetMode="External" Type="http://schemas.openxmlformats.org/officeDocument/2006/relationships/hyperlink"/><Relationship Id="rId5" Target="https://www.trustpilot.com/review/www.kisankonnect.in" TargetMode="External" Type="http://schemas.openxmlformats.org/officeDocument/2006/relationships/hyperlink"/><Relationship Id="rId6" Target="https://www.sparxitsolutions.com/case-study-kisankonnect.shtml" TargetMode="External" Type="http://schemas.openxmlformats.org/officeDocument/2006/relationships/hyperlink"/><Relationship Id="rId7" Target="https://techreviewer.co/companies/sparx-it-solutions/kisankonnect" TargetMode="External" Type="http://schemas.openxmlformats.org/officeDocument/2006/relationships/hyperlink"/><Relationship Id="rId8" Target="https://agriculture.institute/agripreneurship/understanding-apmc-system/" TargetMode="External" Type="http://schemas.openxmlformats.org/officeDocument/2006/relationships/hyperlink"/><Relationship Id="rId9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165" y="1277283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2333" y="2573817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96929" y="2595237"/>
            <a:ext cx="9296830" cy="5339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1245" indent="-270622" lvl="1">
              <a:lnSpc>
                <a:spcPts val="7177"/>
              </a:lnSpc>
              <a:buFont typeface="Arial"/>
              <a:buChar char="•"/>
            </a:pPr>
            <a:r>
              <a:rPr lang="en-US" b="true" sz="299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ID – SIH26033</a:t>
            </a:r>
          </a:p>
          <a:p>
            <a:pPr algn="l" marL="541245" indent="-270622" lvl="1">
              <a:lnSpc>
                <a:spcPts val="7177"/>
              </a:lnSpc>
              <a:buFont typeface="Arial"/>
              <a:buChar char="•"/>
            </a:pPr>
            <a:r>
              <a:rPr lang="en-US" b="true" sz="299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Title- Multiple intermediaries reduce farmers’ earnings &amp; increase consumer prices</a:t>
            </a:r>
          </a:p>
          <a:p>
            <a:pPr algn="l" marL="541245" indent="-270622" lvl="1">
              <a:lnSpc>
                <a:spcPts val="7177"/>
              </a:lnSpc>
              <a:buFont typeface="Arial"/>
              <a:buChar char="•"/>
            </a:pPr>
            <a:r>
              <a:rPr lang="en-US" b="true" sz="299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Theme- Agriculture, FoodTech &amp; Rural Development</a:t>
            </a:r>
          </a:p>
          <a:p>
            <a:pPr algn="l" marL="541245" indent="-270622" lvl="1">
              <a:lnSpc>
                <a:spcPts val="7177"/>
              </a:lnSpc>
              <a:buFont typeface="Arial"/>
              <a:buChar char="•"/>
            </a:pPr>
            <a:r>
              <a:rPr lang="en-US" b="true" sz="299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PS Category- Software</a:t>
            </a:r>
          </a:p>
          <a:p>
            <a:pPr algn="l" marL="541245" indent="-270622" lvl="1">
              <a:lnSpc>
                <a:spcPts val="7177"/>
              </a:lnSpc>
              <a:buFont typeface="Arial"/>
              <a:buChar char="•"/>
            </a:pPr>
            <a:r>
              <a:rPr lang="en-US" b="true" sz="299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Name- AgriLink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53203" y="-305416"/>
            <a:ext cx="16459200" cy="1901168"/>
            <a:chOff x="0" y="0"/>
            <a:chExt cx="21945600" cy="2534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534890"/>
            </a:xfrm>
            <a:custGeom>
              <a:avLst/>
              <a:gdLst/>
              <a:ahLst/>
              <a:cxnLst/>
              <a:rect r="r" b="b" t="t" l="l"/>
              <a:pathLst>
                <a:path h="25348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34890"/>
                  </a:lnTo>
                  <a:lnTo>
                    <a:pt x="0" y="2534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99" r="0" b="-11378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56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</a:p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PROPOSED SOLUTION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1" id="11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554516" cy="1713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AgriLink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3494550" y="1812571"/>
            <a:ext cx="11175578" cy="7445729"/>
          </a:xfrm>
          <a:custGeom>
            <a:avLst/>
            <a:gdLst/>
            <a:ahLst/>
            <a:cxnLst/>
            <a:rect r="r" b="b" t="t" l="l"/>
            <a:pathLst>
              <a:path h="7445729" w="11175578">
                <a:moveTo>
                  <a:pt x="0" y="0"/>
                </a:moveTo>
                <a:lnTo>
                  <a:pt x="11175579" y="0"/>
                </a:lnTo>
                <a:lnTo>
                  <a:pt x="11175579" y="7445729"/>
                </a:lnTo>
                <a:lnTo>
                  <a:pt x="0" y="74457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8" id="8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554516" cy="1713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AgriLink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2165561" y="1832684"/>
            <a:ext cx="13369738" cy="6917162"/>
          </a:xfrm>
          <a:custGeom>
            <a:avLst/>
            <a:gdLst/>
            <a:ahLst/>
            <a:cxnLst/>
            <a:rect r="r" b="b" t="t" l="l"/>
            <a:pathLst>
              <a:path h="6917162" w="13369738">
                <a:moveTo>
                  <a:pt x="0" y="0"/>
                </a:moveTo>
                <a:lnTo>
                  <a:pt x="13369738" y="0"/>
                </a:lnTo>
                <a:lnTo>
                  <a:pt x="13369738" y="6917162"/>
                </a:lnTo>
                <a:lnTo>
                  <a:pt x="0" y="69171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635" t="-12002" r="-2202" b="-177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463222" y="545721"/>
            <a:ext cx="8135184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  <a:spcBef>
                <a:spcPct val="0"/>
              </a:spcBef>
            </a:pPr>
            <a:r>
              <a:rPr lang="en-US" b="true" sz="5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APPROACH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44475" y="171450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1" id="11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554516" cy="1713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AgriLink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844475" y="2714823"/>
            <a:ext cx="16599051" cy="4828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Proven &amp; Low-Cost Tech: Runs on basic smartphones via Flutter, FastAPI, and low-cost Layer-2 blockchain.</a:t>
            </a:r>
          </a:p>
          <a:p>
            <a:pPr algn="l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Existing Infrastructure: Leverages established rural FPOs and PACS hubs within a 15–30 km radius.</a:t>
            </a:r>
          </a:p>
          <a:p>
            <a:pPr algn="l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Asset-Light &amp; Profitable: Generates consistent revenue through an 8% platform fee with zero inventory holding risk.</a:t>
            </a:r>
          </a:p>
          <a:p>
            <a:pPr algn="l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Win-Win Economics</a:t>
            </a:r>
          </a:p>
          <a:p>
            <a:pPr algn="l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Tamper-Proof &amp; Low Waste: Blockchain prevents price manipulation; smart routing cuts transit food spoilage from 28% to &lt;4%.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0100" y="171450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1" id="11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554516" cy="1713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AgriLink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844975" y="2618802"/>
            <a:ext cx="16598049" cy="5362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Farmers earn more, reliably — 14–19% higher than mandi net, paid faster, less dependence on commission agents.</a:t>
            </a:r>
          </a:p>
          <a:p>
            <a:pPr algn="just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Fair pricing for buyers — bulk produce near mandi price, with delivery cost shown separately.</a:t>
            </a:r>
          </a:p>
          <a:p>
            <a:pPr algn="just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Creates rural employment — local aggregator and delivery roles, especially for rural women and youth.</a:t>
            </a:r>
          </a:p>
          <a:p>
            <a:pPr algn="just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Cuts middlemen and waste — fewer intermediary layers, shorter transit, less spoilage.</a:t>
            </a:r>
          </a:p>
          <a:p>
            <a:pPr algn="just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Scalable financial inclusion — fair market access for small farmers, room to grow into inputs and credit.</a:t>
            </a:r>
          </a:p>
          <a:p>
            <a:pPr algn="just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5612" y="171450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&amp; REFERENCES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41684" y="2391083"/>
            <a:ext cx="16272119" cy="5485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0540" indent="-23527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Agmarknet (Directorate of Marketing &amp; Inspection, Govt. of India) — daily APMC mandi arrival &amp; price data</a:t>
            </a:r>
          </a:p>
          <a:p>
            <a:pPr algn="just" marL="470540" indent="-23527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NITI Aayog, Report of the Committee on Doubling Farmers’ Income (2022) — intermediary margin analysis</a:t>
            </a:r>
          </a:p>
          <a:p>
            <a:pPr algn="just" marL="470540" indent="-23527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National Agriculture Market (e-NAM) inter-mandi trading framework</a:t>
            </a:r>
          </a:p>
          <a:p>
            <a:pPr algn="just" marL="470540" indent="-23527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Glaros, A. et al. (2023), “Digital technologies in local agri-food systems,” Frontiers in Sustainable Food Systems</a:t>
            </a:r>
          </a:p>
          <a:p>
            <a:pPr algn="just" marL="470540" indent="-23527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Sedek, K. A. et al. (2021), “Smart Agro E-Marketplace Architectural Model,” Journal of Physics: Conference Series</a:t>
            </a:r>
          </a:p>
          <a:p>
            <a:pPr algn="just" marL="470540" indent="-23527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Gumbi, Gumbi &amp; Twinomurinzi (2023), “Towards Sustainable Digital Agriculture for Smallholder Farmers,” Sustainability</a:t>
            </a:r>
          </a:p>
          <a:p>
            <a:pPr algn="just" marL="470540" indent="-23527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Kissankonnect Case Study (Scribd) —</a:t>
            </a:r>
            <a:r>
              <a:rPr lang="en-US" sz="26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 tooltip="https://www.scribd.com/document/842217117/Kissankonnect-Case-study"/>
              </a:rPr>
              <a:t> brand/support challenges</a:t>
            </a:r>
          </a:p>
          <a:p>
            <a:pPr algn="just" marL="470540" indent="-23527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Trustpilot —</a:t>
            </a:r>
            <a:r>
              <a:rPr lang="en-US" sz="26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 tooltip="https://www.trustpilot.com/review/www.kisankonnect.in"/>
              </a:rPr>
              <a:t> Kisankonnect Reviews</a:t>
            </a:r>
          </a:p>
          <a:p>
            <a:pPr algn="just" marL="470540" indent="-23527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SparxIT —</a:t>
            </a:r>
            <a:r>
              <a:rPr lang="en-US" sz="26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 tooltip="https://www.sparxitsolutions.com/case-study-kisankonnect.shtml"/>
              </a:rPr>
              <a:t> KisanKonnect App Redesign Case Study</a:t>
            </a:r>
          </a:p>
          <a:p>
            <a:pPr algn="just" marL="470540" indent="-23527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Techreviewer.co —</a:t>
            </a:r>
            <a:r>
              <a:rPr lang="en-US" sz="26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 tooltip="https://techreviewer.co/companies/sparx-it-solutions/kisankonnect"/>
              </a:rPr>
              <a:t> KisanKonnect / SparxIT Case Study</a:t>
            </a:r>
          </a:p>
          <a:p>
            <a:pPr algn="just" marL="470540" indent="-23527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Agriculture Institute — </a:t>
            </a:r>
            <a:r>
              <a:rPr lang="en-US" sz="2600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Understanding the Agricultural Produce Market Committee (APMC) System</a:t>
            </a: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</a:t>
            </a:r>
            <a:r>
              <a:rPr lang="en-US" sz="26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 tooltip="https://agriculture.institute/agripreneurship/understanding-apmc-system/"/>
              </a:rPr>
              <a:t>https://agriculture.institute/agripreneurship/understanding-apmc-system/</a:t>
            </a: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just">
              <a:lnSpc>
                <a:spcPts val="312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2" id="12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554516" cy="1713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AgriLink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DAHU7-z4Oco</dc:identifier>
  <dcterms:modified xsi:type="dcterms:W3CDTF">2011-08-01T06:04:30Z</dcterms:modified>
  <cp:revision>1</cp:revision>
  <dc:title>AgriLink_SIH2026_Formatted.pptx</dc:title>
</cp:coreProperties>
</file>